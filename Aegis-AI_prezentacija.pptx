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496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Predstavljam Aegis-AI: agenta koji koristi jezički model da planira izviđanje, dok se sav stvarni rad obavlja poznatim alatima, pod strogom kontrolom. Fokus je na tome kako LLM najbolje iskoristiti u ovoj oblasti, ne na tome da napravim što više funkcija.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Izviđanje je prvi korak svakog bezbednosnog testa i uglavnom se radi ručno. Pitanje rada je kako LLM najbolje uklopiti: ne da sam izvršava, nego da planira, bira alate i tumači rezultate. Obim je namerno ograničen na izviđanje, jer je to bezbedno i može da se ispita na proverljiv način.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Tok ima šest koraka. Model prvo zapisuje kako je razumeo zadatak i koje alate sme da koristi. Zatim u petlji predlaže po jedan poziv alata. Svaki poziv prolazi provere, izvršava se, a rezultat se vraća modelu. Petlja se zaustavlja kad model završi ili kad se dostigne granica.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Petlja agenta vodi razgovor sa modelom. Izvršilac je jedino mesto gde se alat stvarno pokreće, i tek pošto prođe sve provere. Politika, baza i audit log su odvojeni, tako da model ne može da ih zaobiđe. Isti program radi sa tri vrste modela.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Svaki alat je omotač oko postojećeg programa. Uz alat postoji opis koji objašnjava modelu kada i kako da ga koristi. Novi alat se dodaje samo novim fajlom.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Namerno nisam dozvolila modelu da piše sirove komande. Otvoreni projekat METATRON koristi tagove u tekstu i izvršava ono što model napiše, bez validacije. Kod mene model popunjava imenovana polja iz šeme, a komandu gradi kod. Tako je prostor mogućih poziva ograničen i može da se proveri unapred.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Svaki predlog modela prolazi redom kroz ove provere pre izvršenja. Nijedna provera se ne oslanja na to da se model ponaša dobro. Ako je predlog odbijen, razlog se vraća modelu i beleži u bazu i audit log, pa model može da ispravi poziv.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Najzanimljivije nastavak istraživanja je poređenje modela na istom zadatku, jer je arhitektura već spremna za to. Ostalo su metrike, prilagođavanje modela formatu poziva i proširenje alata.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Za demo pokrećem laboratorijske mete u Docker-u i pustim agenta nad njima. Tokom izvršavanja ukazujem na tumačenje zadatka, predloge alata, odbijene radnje i na kraju izveštaj.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Zaključak: LLM je koristan kao planer i tumač, ali tek uz slojeve koji ga ograničavaju. Najveće ograničenje je sam model, a arhitektura je spremna da se on zameni i izmeri.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1828800"/>
            <a:ext cx="6217920" cy="1097280"/>
          </a:xfrm>
        </p:spPr>
        <p:txBody>
          <a:bodyPr wrap="square" lIns="0" tIns="0" rIns="0" bIns="0" anchor="ctr"/>
          <a:lstStyle/>
          <a:p>
            <a:pPr algn="l"/>
            <a:r>
              <a:rPr sz="6600" b="1" i="0">
                <a:solidFill>
                  <a:srgbClr val="FFFFFF"/>
                </a:solidFill>
                <a:latin typeface="Cambria"/>
              </a:rPr>
              <a:t>Aegis-AI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5943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0" i="0">
                <a:solidFill>
                  <a:srgbClr val="CFE6EA"/>
                </a:solidFill>
                <a:latin typeface="Calibri"/>
              </a:rPr>
              <a:t>LLM agent za autorizovano izviđanje (reconnaissance)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Nikolina Potparić</a:t>
            </a:r>
          </a:p>
        </p:txBody>
      </p:sp>
      <p:sp>
        <p:nvSpPr>
          <p:cNvPr id="6" name="Oval 5"/>
          <p:cNvSpPr/>
          <p:nvPr/>
        </p:nvSpPr>
        <p:spPr>
          <a:xfrm>
            <a:off x="6492240" y="777240"/>
            <a:ext cx="5303520" cy="5303520"/>
          </a:xfrm>
          <a:prstGeom prst="ellipse">
            <a:avLst/>
          </a:prstGeom>
          <a:noFill/>
          <a:ln w="25400">
            <a:solidFill>
              <a:srgbClr val="F2A5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0" y="45720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2A541"/>
                </a:solidFill>
                <a:latin typeface="Calibri"/>
              </a:rPr>
              <a:t>OBIM (SCOPE)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9144000" y="1554480"/>
            <a:ext cx="0" cy="1874520"/>
          </a:xfrm>
          <a:prstGeom prst="line">
            <a:avLst/>
          </a:prstGeom>
          <a:ln w="19050">
            <a:solidFill>
              <a:srgbClr val="2E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144000" y="2849741"/>
            <a:ext cx="1782774" cy="579259"/>
          </a:xfrm>
          <a:prstGeom prst="line">
            <a:avLst/>
          </a:prstGeom>
          <a:ln w="19050">
            <a:solidFill>
              <a:srgbClr val="2E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144000" y="3429000"/>
            <a:ext cx="1101815" cy="1516518"/>
          </a:xfrm>
          <a:prstGeom prst="line">
            <a:avLst/>
          </a:prstGeom>
          <a:ln w="19050">
            <a:solidFill>
              <a:srgbClr val="2E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042184" y="3429000"/>
            <a:ext cx="1101816" cy="1516518"/>
          </a:xfrm>
          <a:prstGeom prst="line">
            <a:avLst/>
          </a:prstGeom>
          <a:ln w="19050">
            <a:solidFill>
              <a:srgbClr val="2E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7361225" y="2849741"/>
            <a:ext cx="1782775" cy="579259"/>
          </a:xfrm>
          <a:prstGeom prst="line">
            <a:avLst/>
          </a:prstGeom>
          <a:ln w="19050">
            <a:solidFill>
              <a:srgbClr val="2E6F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686800" y="1097280"/>
            <a:ext cx="914400" cy="914400"/>
          </a:xfrm>
          <a:prstGeom prst="ellipse">
            <a:avLst/>
          </a:prstGeom>
          <a:solidFill>
            <a:srgbClr val="16323B"/>
          </a:solidFill>
          <a:ln w="19050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nmap</a:t>
            </a:r>
          </a:p>
        </p:txBody>
      </p:sp>
      <p:sp>
        <p:nvSpPr>
          <p:cNvPr id="14" name="Oval 13"/>
          <p:cNvSpPr/>
          <p:nvPr/>
        </p:nvSpPr>
        <p:spPr>
          <a:xfrm>
            <a:off x="10469574" y="2392541"/>
            <a:ext cx="914400" cy="914400"/>
          </a:xfrm>
          <a:prstGeom prst="ellipse">
            <a:avLst/>
          </a:prstGeom>
          <a:solidFill>
            <a:srgbClr val="16323B"/>
          </a:solidFill>
          <a:ln w="19050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curl</a:t>
            </a:r>
          </a:p>
        </p:txBody>
      </p:sp>
      <p:sp>
        <p:nvSpPr>
          <p:cNvPr id="15" name="Oval 14"/>
          <p:cNvSpPr/>
          <p:nvPr/>
        </p:nvSpPr>
        <p:spPr>
          <a:xfrm>
            <a:off x="9788615" y="4488318"/>
            <a:ext cx="914400" cy="914400"/>
          </a:xfrm>
          <a:prstGeom prst="ellipse">
            <a:avLst/>
          </a:prstGeom>
          <a:solidFill>
            <a:srgbClr val="16323B"/>
          </a:solidFill>
          <a:ln w="19050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NVD</a:t>
            </a:r>
          </a:p>
        </p:txBody>
      </p:sp>
      <p:sp>
        <p:nvSpPr>
          <p:cNvPr id="16" name="Oval 15"/>
          <p:cNvSpPr/>
          <p:nvPr/>
        </p:nvSpPr>
        <p:spPr>
          <a:xfrm>
            <a:off x="7584984" y="4488318"/>
            <a:ext cx="914400" cy="914400"/>
          </a:xfrm>
          <a:prstGeom prst="ellipse">
            <a:avLst/>
          </a:prstGeom>
          <a:solidFill>
            <a:srgbClr val="16323B"/>
          </a:solidFill>
          <a:ln w="19050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DNS</a:t>
            </a:r>
          </a:p>
        </p:txBody>
      </p:sp>
      <p:sp>
        <p:nvSpPr>
          <p:cNvPr id="17" name="Oval 16"/>
          <p:cNvSpPr/>
          <p:nvPr/>
        </p:nvSpPr>
        <p:spPr>
          <a:xfrm>
            <a:off x="6904025" y="2392541"/>
            <a:ext cx="914400" cy="914400"/>
          </a:xfrm>
          <a:prstGeom prst="ellipse">
            <a:avLst/>
          </a:prstGeom>
          <a:solidFill>
            <a:srgbClr val="16323B"/>
          </a:solidFill>
          <a:ln w="19050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WHOIS</a:t>
            </a:r>
          </a:p>
        </p:txBody>
      </p:sp>
      <p:sp>
        <p:nvSpPr>
          <p:cNvPr id="18" name="Oval 17"/>
          <p:cNvSpPr/>
          <p:nvPr/>
        </p:nvSpPr>
        <p:spPr>
          <a:xfrm>
            <a:off x="8366760" y="2651760"/>
            <a:ext cx="1554480" cy="155448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868680"/>
          </a:xfrm>
        </p:spPr>
        <p:txBody>
          <a:bodyPr wrap="square" lIns="0" tIns="0" rIns="0" bIns="0" anchor="ctr"/>
          <a:lstStyle/>
          <a:p>
            <a:pPr algn="l"/>
            <a:r>
              <a:rPr sz="3400" b="1" i="0">
                <a:solidFill>
                  <a:srgbClr val="15262C"/>
                </a:solidFill>
                <a:latin typeface="Cambria"/>
              </a:rPr>
              <a:t>Problem i cilj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B72"/>
                </a:solidFill>
                <a:latin typeface="Calibri"/>
              </a:rPr>
              <a:t>Aegis-AI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6583680" cy="132588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1874519"/>
            <a:ext cx="594360" cy="59436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91639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5262C"/>
                </a:solidFill>
                <a:latin typeface="Calibri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0312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5262C"/>
                </a:solidFill>
                <a:latin typeface="Calibri"/>
              </a:rPr>
              <a:t>Izviđanje (nmap, DNS, zaglavlja, CVE) je ručno, repetitivno i zavisi od iskustva analitičara.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6583680" cy="132588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3383279"/>
            <a:ext cx="594360" cy="59436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2004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5262C"/>
                </a:solidFill>
                <a:latin typeface="Calibri"/>
              </a:rPr>
              <a:t>Istraživačko pitanje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611879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5262C"/>
                </a:solidFill>
                <a:latin typeface="Calibri"/>
              </a:rPr>
              <a:t>Kako najbolje iskoristiti LLM u ovom poslu: da planira i tumači, dok alati rade sam posao?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26279"/>
            <a:ext cx="6583680" cy="132588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77240" y="4892040"/>
            <a:ext cx="594360" cy="59436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709159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5262C"/>
                </a:solidFill>
                <a:latin typeface="Calibri"/>
              </a:rPr>
              <a:t>Cilj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120640"/>
            <a:ext cx="5303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5262C"/>
                </a:solidFill>
                <a:latin typeface="Calibri"/>
              </a:rPr>
              <a:t>Agent koji iz zadatka bira alate, nastavlja na osnovu rezultata i piše izveštaj, uz stroge kontrole.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517904"/>
            <a:ext cx="4142232" cy="434340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0" y="178308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DF0DA"/>
                </a:solidFill>
                <a:latin typeface="Calibri"/>
              </a:rPr>
              <a:t>OBIM RADA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240280"/>
            <a:ext cx="36118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Samo izviđanje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520440"/>
            <a:ext cx="3611880" cy="959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 dirty="0">
                <a:solidFill>
                  <a:srgbClr val="FFFFFF"/>
                </a:solidFill>
                <a:latin typeface="Calibri"/>
              </a:rPr>
              <a:t>Agent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otkriva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i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opisuje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servise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1800" b="0" i="0" dirty="0" err="1">
                <a:solidFill>
                  <a:srgbClr val="FFFFFF"/>
                </a:solidFill>
                <a:latin typeface="Calibri"/>
              </a:rPr>
              <a:t>Sve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što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nije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u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dozvoljenom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obimu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 se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odbija</a:t>
            </a:r>
            <a:r>
              <a:rPr sz="1800" b="0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868680"/>
          </a:xfrm>
        </p:spPr>
        <p:txBody>
          <a:bodyPr wrap="square" lIns="0" tIns="0" rIns="0" bIns="0" anchor="ctr"/>
          <a:lstStyle/>
          <a:p>
            <a:pPr algn="l"/>
            <a:r>
              <a:rPr sz="3400" b="1" i="0">
                <a:solidFill>
                  <a:srgbClr val="15262C"/>
                </a:solidFill>
                <a:latin typeface="Cambria"/>
              </a:rPr>
              <a:t>Kako agent radi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B72"/>
                </a:solidFill>
                <a:latin typeface="Calibri"/>
              </a:rPr>
              <a:t>Aegis-AI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600200" cy="251460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1737360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262C"/>
                </a:solidFill>
                <a:latin typeface="Calibri"/>
              </a:rPr>
              <a:t>Zadatak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88920"/>
            <a:ext cx="1325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62C"/>
                </a:solidFill>
                <a:latin typeface="Calibri"/>
              </a:rPr>
              <a:t>Korisnik opisuje cilj i mete</a:t>
            </a:r>
          </a:p>
        </p:txBody>
      </p:sp>
      <p:sp>
        <p:nvSpPr>
          <p:cNvPr id="9" name="Chevron 8"/>
          <p:cNvSpPr/>
          <p:nvPr/>
        </p:nvSpPr>
        <p:spPr>
          <a:xfrm>
            <a:off x="2194560" y="2697480"/>
            <a:ext cx="201168" cy="411480"/>
          </a:xfrm>
          <a:prstGeom prst="chevron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446934" y="1600200"/>
            <a:ext cx="1600200" cy="251460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584094" y="1737360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4094" y="233172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262C"/>
                </a:solidFill>
                <a:latin typeface="Calibri"/>
              </a:rPr>
              <a:t>Tumačenje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4094" y="2788920"/>
            <a:ext cx="1325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62C"/>
                </a:solidFill>
                <a:latin typeface="Calibri"/>
              </a:rPr>
              <a:t>LLM zapisuje cilj i dozvoljene alate</a:t>
            </a:r>
          </a:p>
        </p:txBody>
      </p:sp>
      <p:sp>
        <p:nvSpPr>
          <p:cNvPr id="14" name="Chevron 13"/>
          <p:cNvSpPr/>
          <p:nvPr/>
        </p:nvSpPr>
        <p:spPr>
          <a:xfrm>
            <a:off x="4092854" y="2697480"/>
            <a:ext cx="201168" cy="411480"/>
          </a:xfrm>
          <a:prstGeom prst="chevron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45228" y="1600200"/>
            <a:ext cx="1600200" cy="251460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482388" y="1737360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2388" y="233172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262C"/>
                </a:solidFill>
                <a:latin typeface="Calibri"/>
              </a:rPr>
              <a:t>Predlog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2388" y="2788920"/>
            <a:ext cx="1325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62C"/>
                </a:solidFill>
                <a:latin typeface="Calibri"/>
              </a:rPr>
              <a:t>LLM poziva jedan alat sa parametrima</a:t>
            </a:r>
          </a:p>
        </p:txBody>
      </p:sp>
      <p:sp>
        <p:nvSpPr>
          <p:cNvPr id="19" name="Chevron 18"/>
          <p:cNvSpPr/>
          <p:nvPr/>
        </p:nvSpPr>
        <p:spPr>
          <a:xfrm>
            <a:off x="5991148" y="2697480"/>
            <a:ext cx="201168" cy="411480"/>
          </a:xfrm>
          <a:prstGeom prst="chevron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43523" y="1600200"/>
            <a:ext cx="1600200" cy="251460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80683" y="1737360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0683" y="233172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262C"/>
                </a:solidFill>
                <a:latin typeface="Calibri"/>
              </a:rPr>
              <a:t>Provere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0683" y="2788920"/>
            <a:ext cx="1325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62C"/>
                </a:solidFill>
                <a:latin typeface="Calibri"/>
              </a:rPr>
              <a:t>Šema, scope, duplikati, moje odobrenje</a:t>
            </a:r>
          </a:p>
        </p:txBody>
      </p:sp>
      <p:sp>
        <p:nvSpPr>
          <p:cNvPr id="24" name="Chevron 23"/>
          <p:cNvSpPr/>
          <p:nvPr/>
        </p:nvSpPr>
        <p:spPr>
          <a:xfrm>
            <a:off x="7889443" y="2697480"/>
            <a:ext cx="201168" cy="411480"/>
          </a:xfrm>
          <a:prstGeom prst="chevron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141817" y="1600200"/>
            <a:ext cx="1600200" cy="251460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278977" y="1737360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8977" y="233172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262C"/>
                </a:solidFill>
                <a:latin typeface="Calibri"/>
              </a:rPr>
              <a:t>Izvršenje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8977" y="2788920"/>
            <a:ext cx="1325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62C"/>
                </a:solidFill>
                <a:latin typeface="Calibri"/>
              </a:rPr>
              <a:t>Alat radi, rezultat ide nazad modelu</a:t>
            </a:r>
          </a:p>
        </p:txBody>
      </p:sp>
      <p:sp>
        <p:nvSpPr>
          <p:cNvPr id="29" name="Chevron 28"/>
          <p:cNvSpPr/>
          <p:nvPr/>
        </p:nvSpPr>
        <p:spPr>
          <a:xfrm>
            <a:off x="9787737" y="2697480"/>
            <a:ext cx="201168" cy="411480"/>
          </a:xfrm>
          <a:prstGeom prst="chevron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0040112" y="1600200"/>
            <a:ext cx="1600200" cy="251460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177272" y="1737360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7272" y="2331720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262C"/>
                </a:solidFill>
                <a:latin typeface="Calibri"/>
              </a:rPr>
              <a:t>Izveštaj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77272" y="2788920"/>
            <a:ext cx="13258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62C"/>
                </a:solidFill>
                <a:latin typeface="Calibri"/>
              </a:rPr>
              <a:t>Nalazi, dokazi i zaključak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480560"/>
            <a:ext cx="11091672" cy="1417320"/>
          </a:xfrm>
          <a:prstGeom prst="roundRect">
            <a:avLst>
              <a:gd name="adj" fmla="val 6000"/>
            </a:avLst>
          </a:prstGeom>
          <a:solidFill>
            <a:srgbClr val="E3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Circular Arrow 34"/>
          <p:cNvSpPr/>
          <p:nvPr/>
        </p:nvSpPr>
        <p:spPr>
          <a:xfrm>
            <a:off x="777240" y="4709160"/>
            <a:ext cx="914400" cy="914400"/>
          </a:xfrm>
          <a:prstGeom prst="circularArrow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965960" y="466344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5262C"/>
                </a:solidFill>
                <a:latin typeface="Calibri"/>
              </a:rPr>
              <a:t>Petlja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5960" y="5074920"/>
            <a:ext cx="9418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5262C"/>
                </a:solidFill>
                <a:latin typeface="Calibri"/>
              </a:rPr>
              <a:t>Koraci 3 do 5 se ponavljaju: rezultat se vraća modelu, koji bira sledeći korak ili završava. Granice: najviše 25 iteracija i 3 uzastopna odbijena predloga.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868680"/>
          </a:xfrm>
        </p:spPr>
        <p:txBody>
          <a:bodyPr wrap="square" lIns="0" tIns="0" rIns="0" bIns="0" anchor="ctr"/>
          <a:lstStyle/>
          <a:p>
            <a:pPr algn="l"/>
            <a:r>
              <a:rPr sz="3400" b="1" i="0">
                <a:solidFill>
                  <a:srgbClr val="15262C"/>
                </a:solidFill>
                <a:latin typeface="Cambria"/>
              </a:rPr>
              <a:t>Arhitektura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B72"/>
                </a:solidFill>
                <a:latin typeface="Calibri"/>
              </a:rPr>
              <a:t>Aegis-AI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394960" cy="868680"/>
          </a:xfrm>
          <a:prstGeom prst="roundRect">
            <a:avLst>
              <a:gd name="adj" fmla="val 6000"/>
            </a:avLst>
          </a:prstGeom>
          <a:solidFill>
            <a:srgbClr val="FD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5262C"/>
                </a:solidFill>
                <a:latin typeface="Calibri"/>
              </a:rPr>
              <a:t>Obim angažmana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B72"/>
                </a:solidFill>
                <a:latin typeface="Calibri"/>
              </a:rPr>
              <a:t>dozvoljene mete, alati i ograničenja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17320"/>
            <a:ext cx="5394960" cy="868680"/>
          </a:xfrm>
          <a:prstGeom prst="roundRect">
            <a:avLst>
              <a:gd name="adj" fmla="val 6000"/>
            </a:avLst>
          </a:prstGeom>
          <a:solidFill>
            <a:srgbClr val="FD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3952" y="15087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5262C"/>
                </a:solidFill>
                <a:latin typeface="Calibri"/>
              </a:rPr>
              <a:t>Podešavanja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874519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B72"/>
                </a:solidFill>
                <a:latin typeface="Calibri"/>
              </a:rPr>
              <a:t>model, provajder, potvrda, limiti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3291840" cy="109728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Petlja agenta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F4F6"/>
                </a:solidFill>
                <a:latin typeface="Calibri"/>
              </a:rPr>
              <a:t>vodi razgovor sa modelom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480560"/>
            <a:ext cx="3291840" cy="100584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59028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262C"/>
                </a:solidFill>
                <a:latin typeface="Calibri"/>
              </a:rPr>
              <a:t>Jezički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9834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B72"/>
                </a:solidFill>
                <a:latin typeface="Calibri"/>
              </a:rPr>
              <a:t>Anthropic, OpenAI ili lokalni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4560" y="3886200"/>
            <a:ext cx="0" cy="594360"/>
          </a:xfrm>
          <a:prstGeom prst="line">
            <a:avLst/>
          </a:prstGeom>
          <a:ln w="25400">
            <a:solidFill>
              <a:srgbClr val="15262C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53128" y="2788920"/>
            <a:ext cx="3291840" cy="109728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36008" y="29260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Izvršilac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33375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F4F6"/>
                </a:solidFill>
                <a:latin typeface="Calibri"/>
              </a:rPr>
              <a:t>jedino mesto gde se alat pokreće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53128" y="4480560"/>
            <a:ext cx="3291840" cy="100584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 w="28575">
            <a:solidFill>
              <a:srgbClr val="F2A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36008" y="459028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262C"/>
                </a:solidFill>
                <a:latin typeface="Calibri"/>
              </a:rPr>
              <a:t>Politika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008" y="49834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B72"/>
                </a:solidFill>
                <a:latin typeface="Calibri"/>
              </a:rPr>
              <a:t>obim, alati, destruktivne radnje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9048" y="3886200"/>
            <a:ext cx="0" cy="594360"/>
          </a:xfrm>
          <a:prstGeom prst="line">
            <a:avLst/>
          </a:prstGeom>
          <a:ln w="25400">
            <a:solidFill>
              <a:srgbClr val="15262C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348472" y="2788920"/>
            <a:ext cx="3291840" cy="109728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31352" y="29260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Alati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1352" y="33375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8F4F6"/>
                </a:solidFill>
                <a:latin typeface="Calibri"/>
              </a:rPr>
              <a:t>nmap, curl, NVD, DNS, WHOIS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48472" y="4480560"/>
            <a:ext cx="3291840" cy="100584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31352" y="459028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5262C"/>
                </a:solidFill>
                <a:latin typeface="Calibri"/>
              </a:rPr>
              <a:t>Opisi alata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2" y="49834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B72"/>
                </a:solidFill>
                <a:latin typeface="Calibri"/>
              </a:rPr>
              <a:t>uputstvo i parametri po alatu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994392" y="3886200"/>
            <a:ext cx="0" cy="594360"/>
          </a:xfrm>
          <a:prstGeom prst="line">
            <a:avLst/>
          </a:prstGeom>
          <a:ln w="25400">
            <a:solidFill>
              <a:srgbClr val="15262C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40480" y="3337560"/>
            <a:ext cx="612648" cy="0"/>
          </a:xfrm>
          <a:prstGeom prst="line">
            <a:avLst/>
          </a:prstGeom>
          <a:ln w="28575">
            <a:solidFill>
              <a:srgbClr val="1526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44968" y="3337560"/>
            <a:ext cx="603504" cy="0"/>
          </a:xfrm>
          <a:prstGeom prst="line">
            <a:avLst/>
          </a:prstGeom>
          <a:ln w="28575">
            <a:solidFill>
              <a:srgbClr val="1526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46120" y="2286000"/>
            <a:ext cx="0" cy="502920"/>
          </a:xfrm>
          <a:prstGeom prst="line">
            <a:avLst/>
          </a:prstGeom>
          <a:ln w="22225">
            <a:solidFill>
              <a:srgbClr val="5B6B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858000" y="2286000"/>
            <a:ext cx="0" cy="502920"/>
          </a:xfrm>
          <a:prstGeom prst="line">
            <a:avLst/>
          </a:prstGeom>
          <a:ln w="22225">
            <a:solidFill>
              <a:srgbClr val="5B6B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6000"/>
            </a:avLst>
          </a:prstGeom>
          <a:solidFill>
            <a:srgbClr val="E3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5843349"/>
            <a:ext cx="1060704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15262C"/>
                </a:solidFill>
                <a:latin typeface="Calibri"/>
              </a:rPr>
              <a:t>Baza </a:t>
            </a:r>
            <a:r>
              <a:rPr sz="1600" b="1" i="0" dirty="0" err="1">
                <a:solidFill>
                  <a:srgbClr val="15262C"/>
                </a:solidFill>
                <a:latin typeface="Calibri"/>
              </a:rPr>
              <a:t>podataka</a:t>
            </a:r>
            <a:r>
              <a:rPr sz="1600" b="1" i="0" dirty="0">
                <a:solidFill>
                  <a:srgbClr val="15262C"/>
                </a:solidFill>
                <a:latin typeface="Calibri"/>
              </a:rPr>
              <a:t> + audit log  →  Markdown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868680"/>
          </a:xfrm>
        </p:spPr>
        <p:txBody>
          <a:bodyPr wrap="square" lIns="0" tIns="0" rIns="0" bIns="0" anchor="ctr"/>
          <a:lstStyle/>
          <a:p>
            <a:pPr algn="l"/>
            <a:r>
              <a:rPr sz="3400" b="1" i="0">
                <a:solidFill>
                  <a:srgbClr val="15262C"/>
                </a:solidFill>
                <a:latin typeface="Cambria"/>
              </a:rPr>
              <a:t>Alati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B72"/>
                </a:solidFill>
                <a:latin typeface="Calibri"/>
              </a:rPr>
              <a:t>Aegis-AI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1907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5262C"/>
                </a:solidFill>
                <a:latin typeface="Cambria"/>
              </a:rPr>
              <a:t>nmap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62C"/>
                </a:solidFill>
                <a:latin typeface="Calibri"/>
              </a:rPr>
              <a:t>Skeniranje portova i servisa; razlikuje proverenu identifikaciju od nagađanja.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1396" y="146304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494276" y="1645920"/>
            <a:ext cx="548640" cy="54864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5796" y="171907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5262C"/>
                </a:solidFill>
                <a:latin typeface="Cambria"/>
              </a:rPr>
              <a:t>http_headers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4276" y="23317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62C"/>
                </a:solidFill>
                <a:latin typeface="Calibri"/>
              </a:rPr>
              <a:t>HTTP zaglavlja preko curl-a; preusmeravanja se ne prate automatski.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4152" y="146304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57031" y="1645920"/>
            <a:ext cx="548640" cy="54864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552" y="171907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5262C"/>
                </a:solidFill>
                <a:latin typeface="Cambria"/>
              </a:rPr>
              <a:t>cve_lookup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33172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62C"/>
                </a:solidFill>
                <a:latin typeface="Calibri"/>
              </a:rPr>
              <a:t>Pretraga CVE kandidata u NVD bazi za viđen proizvod i verziju; nije potvrda ranjivosti.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30018" y="333756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612898" y="3520440"/>
            <a:ext cx="548640" cy="54864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4418" y="3593591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5262C"/>
                </a:solidFill>
                <a:latin typeface="Cambria"/>
              </a:rPr>
              <a:t>dns_lookup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12898" y="420624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62C"/>
                </a:solidFill>
                <a:latin typeface="Calibri"/>
              </a:rPr>
              <a:t>DNS zapisi (A, MX, NS, TXT) samo za pravi domen iz obima.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2774" y="333756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75654" y="3520440"/>
            <a:ext cx="548640" cy="54864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7174" y="3593591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5262C"/>
                </a:solidFill>
                <a:latin typeface="Cambria"/>
              </a:rPr>
              <a:t>whois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5654" y="420624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62C"/>
                </a:solidFill>
                <a:latin typeface="Calibri"/>
              </a:rPr>
              <a:t>Podaci o registraciji domena, samo za domene iz obima.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E3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34924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5262C"/>
                </a:solidFill>
                <a:latin typeface="Calibri"/>
              </a:rPr>
              <a:t>Svaki alat ima svoj opis za model. </a:t>
            </a:r>
            <a:r>
              <a:rPr sz="1600" b="0" i="0">
                <a:solidFill>
                  <a:srgbClr val="15262C"/>
                </a:solidFill>
                <a:latin typeface="Calibri"/>
              </a:rPr>
              <a:t>Novi alat se dodaje samo novim fajlom, sistem ga sam pronalazi.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868680"/>
          </a:xfrm>
        </p:spPr>
        <p:txBody>
          <a:bodyPr wrap="square" lIns="0" tIns="0" rIns="0" bIns="0" anchor="ctr"/>
          <a:lstStyle/>
          <a:p>
            <a:pPr algn="l"/>
            <a:r>
              <a:rPr sz="3400" b="1" i="0">
                <a:solidFill>
                  <a:srgbClr val="15262C"/>
                </a:solidFill>
                <a:latin typeface="Cambria"/>
              </a:rPr>
              <a:t>Kako model poziva alate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B72"/>
                </a:solidFill>
                <a:latin typeface="Calibri"/>
              </a:rPr>
              <a:t>Aegis-AI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212080" cy="278892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5B6B72"/>
                </a:solidFill>
                <a:latin typeface="Calibri"/>
              </a:rPr>
              <a:t>Sirova komanda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4754880" cy="5950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800"/>
              </a:spcAft>
              <a:buChar char="–"/>
            </a:pPr>
            <a:r>
              <a:rPr sz="1600" b="0" i="0" dirty="0">
                <a:solidFill>
                  <a:srgbClr val="15262C"/>
                </a:solidFill>
                <a:latin typeface="Calibri"/>
              </a:rPr>
              <a:t>Model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piše</a:t>
            </a:r>
            <a:r>
              <a:rPr sz="1600" b="0" i="0" dirty="0">
                <a:solidFill>
                  <a:srgbClr val="15262C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komandu</a:t>
            </a:r>
            <a:r>
              <a:rPr sz="1600" b="0" i="0" dirty="0">
                <a:solidFill>
                  <a:srgbClr val="15262C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kao</a:t>
            </a:r>
            <a:r>
              <a:rPr sz="1600" b="0" i="0" dirty="0">
                <a:solidFill>
                  <a:srgbClr val="15262C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običan</a:t>
            </a:r>
            <a:r>
              <a:rPr sz="1600" b="0" i="0" dirty="0">
                <a:solidFill>
                  <a:srgbClr val="15262C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tekst</a:t>
            </a:r>
            <a:endParaRPr sz="1600" b="0" i="0" dirty="0">
              <a:solidFill>
                <a:srgbClr val="15262C"/>
              </a:solidFill>
              <a:latin typeface="Calibri"/>
            </a:endParaRPr>
          </a:p>
          <a:p>
            <a:pPr marL="256032" indent="-256032" algn="l">
              <a:spcAft>
                <a:spcPts val="800"/>
              </a:spcAft>
              <a:buChar char="–"/>
            </a:pPr>
            <a:r>
              <a:rPr sz="1600" b="0" i="0" dirty="0">
                <a:solidFill>
                  <a:srgbClr val="15262C"/>
                </a:solidFill>
                <a:latin typeface="Calibri"/>
              </a:rPr>
              <a:t>Program je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izvlači</a:t>
            </a:r>
            <a:r>
              <a:rPr sz="1600" b="0" i="0" dirty="0">
                <a:solidFill>
                  <a:srgbClr val="15262C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iz</a:t>
            </a:r>
            <a:r>
              <a:rPr sz="1600" b="0" i="0" dirty="0">
                <a:solidFill>
                  <a:srgbClr val="15262C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teksta</a:t>
            </a:r>
            <a:r>
              <a:rPr sz="1600" b="0" i="0" dirty="0">
                <a:solidFill>
                  <a:srgbClr val="15262C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i</a:t>
            </a:r>
            <a:r>
              <a:rPr sz="1600" b="0" i="0" dirty="0">
                <a:solidFill>
                  <a:srgbClr val="15262C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izvršav</a:t>
            </a:r>
            <a:r>
              <a:rPr lang="en-US" sz="1600" b="0" i="0" dirty="0" err="1">
                <a:solidFill>
                  <a:srgbClr val="15262C"/>
                </a:solidFill>
                <a:latin typeface="Calibri"/>
              </a:rPr>
              <a:t>a</a:t>
            </a:r>
            <a:endParaRPr sz="1600" b="0" i="0" dirty="0">
              <a:solidFill>
                <a:srgbClr val="15262C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53912" y="1463040"/>
            <a:ext cx="5486400" cy="2788920"/>
          </a:xfrm>
          <a:prstGeom prst="roundRect">
            <a:avLst>
              <a:gd name="adj" fmla="val 6000"/>
            </a:avLst>
          </a:prstGeom>
          <a:solidFill>
            <a:srgbClr val="E3F1F4"/>
          </a:solidFill>
          <a:ln w="28575">
            <a:solidFill>
              <a:srgbClr val="1F7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645920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 dirty="0" err="1">
                <a:solidFill>
                  <a:srgbClr val="15262C"/>
                </a:solidFill>
                <a:latin typeface="Calibri"/>
              </a:rPr>
              <a:t>Strukturirani</a:t>
            </a:r>
            <a:r>
              <a:rPr sz="2000" b="1" i="0" dirty="0">
                <a:solidFill>
                  <a:srgbClr val="15262C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15262C"/>
                </a:solidFill>
                <a:latin typeface="Calibri"/>
              </a:rPr>
              <a:t>poziv</a:t>
            </a:r>
            <a:r>
              <a:rPr sz="2000" b="1" i="0" dirty="0">
                <a:solidFill>
                  <a:srgbClr val="15262C"/>
                </a:solidFill>
                <a:latin typeface="Calibri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2148840"/>
            <a:ext cx="5029200" cy="943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6032" indent="-256032" algn="l">
              <a:spcAft>
                <a:spcPts val="800"/>
              </a:spcAft>
              <a:buChar char="•"/>
            </a:pPr>
            <a:r>
              <a:rPr sz="1600" b="0" i="0" dirty="0">
                <a:solidFill>
                  <a:srgbClr val="15262C"/>
                </a:solidFill>
                <a:latin typeface="Calibri"/>
              </a:rPr>
              <a:t>Model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bira</a:t>
            </a:r>
            <a:r>
              <a:rPr sz="1600" b="0" i="0" dirty="0">
                <a:solidFill>
                  <a:srgbClr val="15262C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vrednosti</a:t>
            </a:r>
            <a:r>
              <a:rPr sz="1600" b="0" i="0" dirty="0">
                <a:solidFill>
                  <a:srgbClr val="15262C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iz</a:t>
            </a:r>
            <a:r>
              <a:rPr sz="1600" b="0" i="0" dirty="0">
                <a:solidFill>
                  <a:srgbClr val="15262C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unapred</a:t>
            </a:r>
            <a:r>
              <a:rPr sz="1600" b="0" i="0" dirty="0">
                <a:solidFill>
                  <a:srgbClr val="15262C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definisanih</a:t>
            </a:r>
            <a:r>
              <a:rPr sz="1600" b="0" i="0" dirty="0">
                <a:solidFill>
                  <a:srgbClr val="15262C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polja</a:t>
            </a:r>
            <a:endParaRPr sz="1600" b="0" i="0" dirty="0">
              <a:solidFill>
                <a:srgbClr val="15262C"/>
              </a:solidFill>
              <a:latin typeface="Calibri"/>
            </a:endParaRPr>
          </a:p>
          <a:p>
            <a:pPr marL="256032" indent="-256032" algn="l">
              <a:spcAft>
                <a:spcPts val="800"/>
              </a:spcAft>
              <a:buChar char="•"/>
            </a:pPr>
            <a:r>
              <a:rPr sz="1600" b="0" i="0" dirty="0" err="1">
                <a:solidFill>
                  <a:srgbClr val="15262C"/>
                </a:solidFill>
                <a:latin typeface="Calibri"/>
              </a:rPr>
              <a:t>Dozvoljene</a:t>
            </a:r>
            <a:r>
              <a:rPr sz="1600" b="0" i="0" dirty="0">
                <a:solidFill>
                  <a:srgbClr val="15262C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vrednosti</a:t>
            </a:r>
            <a:r>
              <a:rPr sz="1600" b="0" i="0" dirty="0">
                <a:solidFill>
                  <a:srgbClr val="15262C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su</a:t>
            </a:r>
            <a:r>
              <a:rPr sz="1600" b="0" i="0" dirty="0">
                <a:solidFill>
                  <a:srgbClr val="15262C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nabrojane</a:t>
            </a:r>
            <a:endParaRPr sz="1600" b="0" i="0" dirty="0">
              <a:solidFill>
                <a:srgbClr val="15262C"/>
              </a:solidFill>
              <a:latin typeface="Calibri"/>
            </a:endParaRPr>
          </a:p>
          <a:p>
            <a:pPr marL="256032" indent="-256032" algn="l">
              <a:spcAft>
                <a:spcPts val="800"/>
              </a:spcAft>
              <a:buChar char="•"/>
            </a:pPr>
            <a:r>
              <a:rPr sz="1600" b="0" i="0" dirty="0" err="1">
                <a:solidFill>
                  <a:srgbClr val="15262C"/>
                </a:solidFill>
                <a:latin typeface="Calibri"/>
              </a:rPr>
              <a:t>Svaki</a:t>
            </a:r>
            <a:r>
              <a:rPr sz="1600" b="0" i="0" dirty="0">
                <a:solidFill>
                  <a:srgbClr val="15262C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poziv</a:t>
            </a:r>
            <a:r>
              <a:rPr sz="1600" b="0" i="0" dirty="0">
                <a:solidFill>
                  <a:srgbClr val="15262C"/>
                </a:solidFill>
                <a:latin typeface="Calibri"/>
              </a:rPr>
              <a:t> se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proverava</a:t>
            </a:r>
            <a:r>
              <a:rPr sz="1600" b="0" i="0" dirty="0">
                <a:solidFill>
                  <a:srgbClr val="15262C"/>
                </a:solidFill>
                <a:latin typeface="Calibri"/>
              </a:rPr>
              <a:t> pre </a:t>
            </a:r>
            <a:r>
              <a:rPr sz="1600" b="0" i="0" dirty="0" err="1">
                <a:solidFill>
                  <a:srgbClr val="15262C"/>
                </a:solidFill>
                <a:latin typeface="Calibri"/>
              </a:rPr>
              <a:t>izvršenja</a:t>
            </a:r>
            <a:endParaRPr sz="1600" b="0" i="0" dirty="0">
              <a:solidFill>
                <a:srgbClr val="15262C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4572000"/>
            <a:ext cx="3291840" cy="109728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47091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663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8F4F6"/>
                </a:solidFill>
                <a:latin typeface="Calibri"/>
              </a:rPr>
              <a:t>bira vrednosti polja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13632" y="5120640"/>
            <a:ext cx="461772" cy="0"/>
          </a:xfrm>
          <a:prstGeom prst="line">
            <a:avLst/>
          </a:prstGeom>
          <a:ln w="31750">
            <a:solidFill>
              <a:srgbClr val="1526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48556" y="4572000"/>
            <a:ext cx="3291840" cy="109728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77156" y="47091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7156" y="51663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8F4F6"/>
                </a:solidFill>
                <a:latin typeface="Calibri"/>
              </a:rPr>
              <a:t>sastavlja komandu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13548" y="5120640"/>
            <a:ext cx="461772" cy="0"/>
          </a:xfrm>
          <a:prstGeom prst="line">
            <a:avLst/>
          </a:prstGeom>
          <a:ln w="31750">
            <a:solidFill>
              <a:srgbClr val="1526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348472" y="4572000"/>
            <a:ext cx="3291840" cy="109728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77072" y="47091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Alat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51663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8F4F6"/>
                </a:solidFill>
                <a:latin typeface="Calibri"/>
              </a:rPr>
              <a:t>izvršava 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868680"/>
          </a:xfrm>
        </p:spPr>
        <p:txBody>
          <a:bodyPr wrap="square" lIns="0" tIns="0" rIns="0" bIns="0" anchor="ctr"/>
          <a:lstStyle/>
          <a:p>
            <a:pPr algn="l"/>
            <a:r>
              <a:rPr sz="3400" b="1" i="0">
                <a:solidFill>
                  <a:srgbClr val="15262C"/>
                </a:solidFill>
                <a:latin typeface="Cambria"/>
              </a:rPr>
              <a:t>Slojevi zaštite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B72"/>
                </a:solidFill>
                <a:latin typeface="Calibri"/>
              </a:rPr>
              <a:t>Aegis-AI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440680" cy="932688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1655064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0876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5262C"/>
                </a:solidFill>
                <a:latin typeface="Calibri"/>
              </a:rPr>
              <a:t>Mete iz zadatka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47088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62C"/>
                </a:solidFill>
                <a:latin typeface="Calibri"/>
              </a:rPr>
              <a:t>Izvlače se doslovno i proveravaju prema obimu; nema zamene mete.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87168"/>
            <a:ext cx="5440680" cy="932688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31520" y="2724911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7860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5262C"/>
                </a:solidFill>
                <a:latin typeface="Calibri"/>
              </a:rPr>
              <a:t>Tumačenje zadatka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16935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62C"/>
                </a:solidFill>
                <a:latin typeface="Calibri"/>
              </a:rPr>
              <a:t>Model zapisuje dozvoljene alate; ostali se ne nude i ne izvršavaju.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57015"/>
            <a:ext cx="5440680" cy="932688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31520" y="3794759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648456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5262C"/>
                </a:solidFill>
                <a:latin typeface="Calibri"/>
              </a:rPr>
              <a:t>Validacija parametara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86783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62C"/>
                </a:solidFill>
                <a:latin typeface="Calibri"/>
              </a:rPr>
              <a:t>Šema, tipovi i dozvoljene vrednosti; nepoznati parametri se odbijaju.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26864"/>
            <a:ext cx="5440680" cy="932688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31520" y="4864607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718303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5262C"/>
                </a:solidFill>
                <a:latin typeface="Calibri"/>
              </a:rPr>
              <a:t>Primenljivost alata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056631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62C"/>
                </a:solidFill>
                <a:latin typeface="Calibri"/>
              </a:rPr>
              <a:t>whois i DNS rade samo za domen iz obima, ne za IP adresu.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1" y="1417320"/>
            <a:ext cx="5440680" cy="932688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82512" y="1655064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150876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5262C"/>
                </a:solidFill>
                <a:latin typeface="Calibri"/>
              </a:rPr>
              <a:t>Utemeljenost u nalazima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1847088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62C"/>
                </a:solidFill>
                <a:latin typeface="Calibri"/>
              </a:rPr>
              <a:t>CVE pretraga samo za proizvod koji je alat zaista otkrio.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1" y="2487168"/>
            <a:ext cx="5440680" cy="932688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382512" y="2724911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257860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5262C"/>
                </a:solidFill>
                <a:latin typeface="Calibri"/>
              </a:rPr>
              <a:t>Provera duplikata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2916935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62C"/>
                </a:solidFill>
                <a:latin typeface="Calibri"/>
              </a:rPr>
              <a:t>Isti korak se ne izvršava dvaput; odbijen poziv može da se ispravi.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1" y="3557015"/>
            <a:ext cx="5440680" cy="932688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382512" y="3794759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22592" y="3648456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5262C"/>
                </a:solidFill>
                <a:latin typeface="Calibri"/>
              </a:rPr>
              <a:t>Politika (kapija)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3986783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62C"/>
                </a:solidFill>
                <a:latin typeface="Calibri"/>
              </a:rPr>
              <a:t>Obim, dozvoljeni alati, destruktivne radnje; u dvoumici se odbija.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1" y="4626864"/>
            <a:ext cx="5440680" cy="932688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382512" y="4864607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4718303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5262C"/>
                </a:solidFill>
                <a:latin typeface="Calibri"/>
              </a:rPr>
              <a:t>Potvrda i audit trag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5056631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5262C"/>
                </a:solidFill>
                <a:latin typeface="Calibri"/>
              </a:rPr>
              <a:t>Korisnik odobrava korak; svaka odluka ide u audit log.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6000"/>
            </a:avLst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Model samo predlaže. Izvršava se samo ono što prođe sve slojeve.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868680"/>
          </a:xfrm>
        </p:spPr>
        <p:txBody>
          <a:bodyPr wrap="square" lIns="0" tIns="0" rIns="0" bIns="0" anchor="ctr"/>
          <a:lstStyle/>
          <a:p>
            <a:pPr algn="l"/>
            <a:r>
              <a:rPr sz="3400" b="1" i="0">
                <a:solidFill>
                  <a:srgbClr val="15262C"/>
                </a:solidFill>
                <a:latin typeface="Cambria"/>
              </a:rPr>
              <a:t>Dalji rad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B72"/>
                </a:solidFill>
                <a:latin typeface="Calibri"/>
              </a:rPr>
              <a:t>Aegis-AI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606040" cy="384048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5262C"/>
                </a:solidFill>
                <a:latin typeface="Calibri"/>
              </a:rPr>
              <a:t>Poređenje modela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2194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5262C"/>
                </a:solidFill>
                <a:latin typeface="Calibri"/>
              </a:rPr>
              <a:t>Lokalni i oblak modeli na istom zadatku: broj koraka, odbijeni predlozi, utemeljenost.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6879" y="1691640"/>
            <a:ext cx="2606040" cy="384048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605479" y="1920240"/>
            <a:ext cx="640080" cy="64008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5479" y="278892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5262C"/>
                </a:solidFill>
                <a:latin typeface="Calibri"/>
              </a:rPr>
              <a:t>Metrike pokretanja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5479" y="3703320"/>
            <a:ext cx="2194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5262C"/>
                </a:solidFill>
                <a:latin typeface="Calibri"/>
              </a:rPr>
              <a:t>Broj iteracija, odbijanja i vreme po koraku, beležene automatski.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5118" y="1691640"/>
            <a:ext cx="2606040" cy="384048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33718" y="1920240"/>
            <a:ext cx="640080" cy="64008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3718" y="278892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5262C"/>
                </a:solidFill>
                <a:latin typeface="Calibri"/>
              </a:rPr>
              <a:t>Model prilagođen formatu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3718" y="3703320"/>
            <a:ext cx="2194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5262C"/>
                </a:solidFill>
                <a:latin typeface="Calibri"/>
              </a:rPr>
              <a:t>Fine-tuning na šemama i skill fajlovima za pouzdaniji izbor poziva.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3357" y="1691640"/>
            <a:ext cx="2606040" cy="3840480"/>
          </a:xfrm>
          <a:prstGeom prst="roundRect">
            <a:avLst>
              <a:gd name="adj" fmla="val 6000"/>
            </a:avLst>
          </a:prstGeom>
          <a:solidFill>
            <a:srgbClr val="F1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261957" y="1920240"/>
            <a:ext cx="640080" cy="64008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1957" y="278892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5262C"/>
                </a:solidFill>
                <a:latin typeface="Calibri"/>
              </a:rPr>
              <a:t>Više alata i provera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1957" y="3703320"/>
            <a:ext cx="2194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5262C"/>
                </a:solidFill>
                <a:latin typeface="Calibri"/>
              </a:rPr>
              <a:t>Novi alati kroz skill fajlove; sprovođenje ograničenja portova.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91672" cy="868680"/>
          </a:xfrm>
        </p:spPr>
        <p:txBody>
          <a:bodyPr wrap="square" lIns="0" tIns="0" rIns="0" bIns="0" anchor="ctr"/>
          <a:lstStyle/>
          <a:p>
            <a:pPr algn="l"/>
            <a:r>
              <a:rPr sz="3400" b="1" i="0">
                <a:solidFill>
                  <a:srgbClr val="15262C"/>
                </a:solidFill>
                <a:latin typeface="Cambria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B72"/>
                </a:solidFill>
                <a:latin typeface="Calibri"/>
              </a:rPr>
              <a:t>Aegis-AI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6766560" cy="3566160"/>
          </a:xfrm>
          <a:prstGeom prst="roundRect">
            <a:avLst>
              <a:gd name="adj" fmla="val 4000"/>
            </a:avLst>
          </a:prstGeom>
          <a:solidFill>
            <a:srgbClr val="0E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691639"/>
            <a:ext cx="6309360" cy="3200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D7EAEE"/>
                </a:solidFill>
                <a:latin typeface="Courier New"/>
              </a:rPr>
              <a:t>py aegis.py lab up -d --wait</a:t>
            </a:r>
          </a:p>
          <a:p>
            <a:pPr algn="l">
              <a:spcAft>
                <a:spcPts val="400"/>
              </a:spcAft>
            </a:pPr>
            <a:endParaRPr sz="1500" b="0" i="0">
              <a:solidFill>
                <a:srgbClr val="D7EAEE"/>
              </a:solidFill>
              <a:latin typeface="Courier New"/>
            </a:endParaR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D7EAEE"/>
                </a:solidFill>
                <a:latin typeface="Courier New"/>
              </a:rPr>
              <a:t>py aegis.py scope</a:t>
            </a:r>
          </a:p>
          <a:p>
            <a:pPr algn="l">
              <a:spcAft>
                <a:spcPts val="400"/>
              </a:spcAft>
            </a:pPr>
            <a:endParaRPr sz="1500" b="0" i="0">
              <a:solidFill>
                <a:srgbClr val="D7EAEE"/>
              </a:solidFill>
              <a:latin typeface="Courier New"/>
            </a:endParaRP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D7EAEE"/>
                </a:solidFill>
                <a:latin typeface="Courier New"/>
              </a:rPr>
              <a:t>py aegis.py scan --objective "Reconnaissance of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D7EAEE"/>
                </a:solidFill>
                <a:latin typeface="Courier New"/>
              </a:rPr>
              <a:t>    127.0.0.1 on ports 2222, 3001,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D7EAEE"/>
                </a:solidFill>
                <a:latin typeface="Courier New"/>
              </a:rPr>
              <a:t>    16379, and 8080." --yes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5087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5262C"/>
                </a:solidFill>
                <a:latin typeface="Calibri"/>
              </a:rPr>
              <a:t>Na šta ukazati</a:t>
            </a:r>
          </a:p>
        </p:txBody>
      </p:sp>
      <p:sp>
        <p:nvSpPr>
          <p:cNvPr id="8" name="Oval 7"/>
          <p:cNvSpPr/>
          <p:nvPr/>
        </p:nvSpPr>
        <p:spPr>
          <a:xfrm>
            <a:off x="7680960" y="2057400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96596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5262C"/>
                </a:solidFill>
                <a:latin typeface="Calibri"/>
              </a:rPr>
              <a:t>Tumačenje zadatka (koji alati su dozvoljeni)</a:t>
            </a:r>
          </a:p>
        </p:txBody>
      </p:sp>
      <p:sp>
        <p:nvSpPr>
          <p:cNvPr id="10" name="Oval 9"/>
          <p:cNvSpPr/>
          <p:nvPr/>
        </p:nvSpPr>
        <p:spPr>
          <a:xfrm>
            <a:off x="7680960" y="2880360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8892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5262C"/>
                </a:solidFill>
                <a:latin typeface="Calibri"/>
              </a:rPr>
              <a:t>Predlozi alata i njihovi parametri</a:t>
            </a:r>
          </a:p>
        </p:txBody>
      </p:sp>
      <p:sp>
        <p:nvSpPr>
          <p:cNvPr id="12" name="Oval 11"/>
          <p:cNvSpPr/>
          <p:nvPr/>
        </p:nvSpPr>
        <p:spPr>
          <a:xfrm>
            <a:off x="7680960" y="3703320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611879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5262C"/>
                </a:solidFill>
                <a:latin typeface="Calibri"/>
              </a:rPr>
              <a:t>Odbijene radnje i razlozi</a:t>
            </a:r>
          </a:p>
        </p:txBody>
      </p:sp>
      <p:sp>
        <p:nvSpPr>
          <p:cNvPr id="14" name="Oval 13"/>
          <p:cNvSpPr/>
          <p:nvPr/>
        </p:nvSpPr>
        <p:spPr>
          <a:xfrm>
            <a:off x="7680960" y="4526280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43484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5262C"/>
                </a:solidFill>
                <a:latin typeface="Calibri"/>
              </a:rPr>
              <a:t>Izveštaj u reports/local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6000"/>
            </a:avLst>
          </a:prstGeom>
          <a:solidFill>
            <a:srgbClr val="E3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3492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5262C"/>
                </a:solidFill>
                <a:latin typeface="Calibri"/>
              </a:rPr>
              <a:t>Mete u Dockeru: Nginx, OpenSSH, Redis i Juice Shop, sve vezano samo za 127.0.0.1.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640080"/>
            <a:ext cx="10058400" cy="914400"/>
          </a:xfrm>
        </p:spPr>
        <p:txBody>
          <a:bodyPr wrap="square" lIns="0" tIns="0" rIns="0" bIns="0" anchor="ctr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Zaključak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200" b="1" i="0">
                <a:solidFill>
                  <a:srgbClr val="15262C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0"/>
            <a:ext cx="9784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Calibri"/>
              </a:rPr>
              <a:t>LLM planira i tumači, a alati i politika kontrolišu šta se zaista izvršava.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3017520"/>
            <a:ext cx="640080" cy="6400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200" b="1" i="0">
                <a:solidFill>
                  <a:srgbClr val="15262C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926079"/>
            <a:ext cx="9784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Calibri"/>
              </a:rPr>
              <a:t>Strukturirani pozivi i slojevi zaštite čine ponašanje agenta bezbednim i proverljivim.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4114800"/>
            <a:ext cx="640080" cy="640080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200" b="1" i="0">
                <a:solidFill>
                  <a:srgbClr val="15262C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023360"/>
            <a:ext cx="9784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Calibri"/>
              </a:rPr>
              <a:t>Kvalitet zavisi od modela; arhitektura omogućava lako poređenje modela.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1197</Words>
  <Application>Microsoft Office PowerPoint</Application>
  <PresentationFormat>Widescreen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Aegis-AI</vt:lpstr>
      <vt:lpstr>Problem i cilj</vt:lpstr>
      <vt:lpstr>Kako agent radi</vt:lpstr>
      <vt:lpstr>Arhitektura</vt:lpstr>
      <vt:lpstr>Alati</vt:lpstr>
      <vt:lpstr>Kako model poziva alate</vt:lpstr>
      <vt:lpstr>Slojevi zaštite</vt:lpstr>
      <vt:lpstr>Dalji rad</vt:lpstr>
      <vt:lpstr>Demo</vt:lpstr>
      <vt:lpstr>Zaključak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Aegis-AI: LLM agent za autorizovano izviđanje</dc:title>
  <dc:subject/>
  <dc:creator>Nikolina  Potparić</dc:creator>
  <cp:keywords/>
  <dc:description>generated using python-pptx</dc:description>
  <cp:lastModifiedBy>Nikolina  Potparić</cp:lastModifiedBy>
  <cp:revision>2</cp:revision>
  <dcterms:created xsi:type="dcterms:W3CDTF">2013-01-27T09:14:16Z</dcterms:created>
  <dcterms:modified xsi:type="dcterms:W3CDTF">2026-10-26T09:55:50Z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15f3ea9-318a-4c4d-9e4c-cf6b854cbda7_Enabled">
    <vt:lpwstr>true</vt:lpwstr>
  </property>
  <property fmtid="{D5CDD505-2E9C-101B-9397-08002B2CF9AE}" pid="3" name="MSIP_Label_915f3ea9-318a-4c4d-9e4c-cf6b854cbda7_SetDate">
    <vt:lpwstr>2026-10-26T09:55:12Z</vt:lpwstr>
  </property>
  <property fmtid="{D5CDD505-2E9C-101B-9397-08002B2CF9AE}" pid="4" name="MSIP_Label_915f3ea9-318a-4c4d-9e4c-cf6b854cbda7_Method">
    <vt:lpwstr>Standard</vt:lpwstr>
  </property>
  <property fmtid="{D5CDD505-2E9C-101B-9397-08002B2CF9AE}" pid="5" name="MSIP_Label_915f3ea9-318a-4c4d-9e4c-cf6b854cbda7_Name">
    <vt:lpwstr>DCT-INTERNO</vt:lpwstr>
  </property>
  <property fmtid="{D5CDD505-2E9C-101B-9397-08002B2CF9AE}" pid="6" name="MSIP_Label_915f3ea9-318a-4c4d-9e4c-cf6b854cbda7_SiteId">
    <vt:lpwstr>bbf9baec-ae63-458f-a09c-6c877e522030</vt:lpwstr>
  </property>
  <property fmtid="{D5CDD505-2E9C-101B-9397-08002B2CF9AE}" pid="7" name="MSIP_Label_915f3ea9-318a-4c4d-9e4c-cf6b854cbda7_ActionId">
    <vt:lpwstr>c9ff6e69-aa23-41ab-8597-eaf65c45c819</vt:lpwstr>
  </property>
  <property fmtid="{D5CDD505-2E9C-101B-9397-08002B2CF9AE}" pid="8" name="MSIP_Label_915f3ea9-318a-4c4d-9e4c-cf6b854cbda7_ContentBits">
    <vt:lpwstr>0</vt:lpwstr>
  </property>
  <property fmtid="{D5CDD505-2E9C-101B-9397-08002B2CF9AE}" pid="9" name="MSIP_Label_915f3ea9-318a-4c4d-9e4c-cf6b854cbda7_Tag">
    <vt:lpwstr>10, 3, 0, 1</vt:lpwstr>
  </property>
</Properties>
</file>